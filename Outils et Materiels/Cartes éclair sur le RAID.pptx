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0" r:id="rId1"/>
  </p:sldMasterIdLst>
  <p:sldIdLst>
    <p:sldId id="256" r:id="rId2"/>
    <p:sldId id="264" r:id="rId3"/>
    <p:sldId id="258" r:id="rId4"/>
    <p:sldId id="265" r:id="rId5"/>
    <p:sldId id="266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50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183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460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553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2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344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193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816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85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47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614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6745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890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728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484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0218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152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0415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  <p:sldLayoutId id="2147483744" r:id="rId14"/>
    <p:sldLayoutId id="2147483745" r:id="rId15"/>
    <p:sldLayoutId id="2147483746" r:id="rId16"/>
    <p:sldLayoutId id="214748374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37CF4-13F3-EAB7-3F5F-7CBAD6DDE5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4363271"/>
            <a:ext cx="8676222" cy="1066801"/>
          </a:xfrm>
        </p:spPr>
        <p:txBody>
          <a:bodyPr>
            <a:normAutofit/>
          </a:bodyPr>
          <a:lstStyle/>
          <a:p>
            <a:r>
              <a:rPr lang="fr-FR" noProof="0" dirty="0"/>
              <a:t>Cartes éclair sur le RAID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49313C-E53F-EB47-3572-2CEF6C67E5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5516211"/>
            <a:ext cx="8676222" cy="72224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1800" noProof="0" dirty="0"/>
              <a:t>Louis Gauvreau</a:t>
            </a:r>
          </a:p>
          <a:p>
            <a:pPr>
              <a:lnSpc>
                <a:spcPct val="90000"/>
              </a:lnSpc>
            </a:pPr>
            <a:r>
              <a:rPr lang="fr-FR" sz="1800" noProof="0" dirty="0"/>
              <a:t>1957480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7EFA1F-0493-4276-1F9F-C9A4EA4BE4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191" b="1927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10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88298-0D42-B5B9-318A-16FB63A0D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A79A32-35F2-99D7-DC97-9A87A1ABCF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7DFE18-DBB8-8ABF-A386-1AB7B212F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dirty="0"/>
              <a:t>Exemple</a:t>
            </a:r>
            <a:endParaRPr lang="fr-FR" sz="5400" b="1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03E4BA-3352-92B4-0DFC-CB4EC11C0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u="sng" dirty="0"/>
              <a:t>Ce qui se produit lorsqu’1 ou + disque en panne</a:t>
            </a:r>
          </a:p>
          <a:p>
            <a:r>
              <a:rPr lang="fr-FR" u="sng" dirty="0"/>
              <a:t>1 avantage important</a:t>
            </a:r>
          </a:p>
          <a:p>
            <a:r>
              <a:rPr lang="fr-FR" u="sng" noProof="0" dirty="0"/>
              <a:t>Une limite ou un compromis</a:t>
            </a:r>
          </a:p>
          <a:p>
            <a:r>
              <a:rPr lang="fr-FR" u="sng" noProof="0" dirty="0"/>
              <a:t>Principe général</a:t>
            </a:r>
          </a:p>
          <a:p>
            <a:r>
              <a:rPr lang="fr-FR" u="sng" dirty="0"/>
              <a:t>1 </a:t>
            </a:r>
            <a:r>
              <a:rPr lang="fr-FR" u="sng" dirty="0" err="1"/>
              <a:t>schema</a:t>
            </a:r>
            <a:r>
              <a:rPr lang="fr-FR" u="sng" dirty="0"/>
              <a:t> avec organisation de données.</a:t>
            </a:r>
            <a:endParaRPr lang="fr-FR" u="sng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858634-47B1-D6B3-2D59-09E30B358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/>
              <a:t>Nombre min de disque requis</a:t>
            </a:r>
          </a:p>
          <a:p>
            <a:r>
              <a:rPr lang="fr-FR" noProof="0" dirty="0"/>
              <a:t>Capacité utilisable du min de disque avec 2 To chacun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2C9A555-64B0-0260-B2E1-B69974AE7714}"/>
              </a:ext>
            </a:extLst>
          </p:cNvPr>
          <p:cNvSpPr/>
          <p:nvPr/>
        </p:nvSpPr>
        <p:spPr>
          <a:xfrm>
            <a:off x="5027416" y="4800600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50D2F08E-F038-E3C3-DA5E-8E3F72B5C3A5}"/>
              </a:ext>
            </a:extLst>
          </p:cNvPr>
          <p:cNvSpPr/>
          <p:nvPr/>
        </p:nvSpPr>
        <p:spPr>
          <a:xfrm>
            <a:off x="8245644" y="4800600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0717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631D3-E6BF-D24E-EF0D-A9F314B24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29C026-17B4-C248-6FBC-50399560357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D86CB5-EE95-389B-6330-A96F186C0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8DEE5E-8CCA-0B10-2B6E-71EFD7AFB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Accès à le plus d’espaces  moyennant plus de risque.</a:t>
            </a:r>
          </a:p>
          <a:p>
            <a:endParaRPr lang="fr-FR" noProof="0" dirty="0"/>
          </a:p>
          <a:p>
            <a:r>
              <a:rPr lang="fr-FR" noProof="0" dirty="0"/>
              <a:t>Distribue les fichiers dans tous les disques pour augmenter le nombre de mémoire donnée au processeur en même temps. </a:t>
            </a:r>
            <a:endParaRPr lang="fr-FR" dirty="0"/>
          </a:p>
          <a:p>
            <a:pPr marL="0" indent="0">
              <a:buNone/>
            </a:pPr>
            <a:endParaRPr lang="fr-FR" noProof="0" dirty="0"/>
          </a:p>
          <a:p>
            <a:r>
              <a:rPr lang="fr-FR" noProof="0" dirty="0"/>
              <a:t>Données (D) réparties 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67BE75-AAAC-3D63-2644-77230A0181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9047" y="2427515"/>
            <a:ext cx="4453846" cy="2209800"/>
          </a:xfrm>
        </p:spPr>
        <p:txBody>
          <a:bodyPr>
            <a:noAutofit/>
          </a:bodyPr>
          <a:lstStyle/>
          <a:p>
            <a:r>
              <a:rPr lang="fr-FR" sz="1400" b="1" dirty="0"/>
              <a:t>Sécurité</a:t>
            </a:r>
            <a:r>
              <a:rPr lang="fr-FR" sz="1400" b="1" noProof="0" dirty="0"/>
              <a:t> : </a:t>
            </a:r>
            <a:r>
              <a:rPr lang="fr-FR" sz="1400" noProof="0" dirty="0"/>
              <a:t>on perd les données.			</a:t>
            </a:r>
          </a:p>
          <a:p>
            <a:endParaRPr lang="fr-FR" sz="1400" dirty="0"/>
          </a:p>
          <a:p>
            <a:r>
              <a:rPr lang="fr-FR" sz="1400" b="1" dirty="0"/>
              <a:t>Pour 2 disques de 2 To : </a:t>
            </a:r>
            <a:r>
              <a:rPr lang="fr-FR" sz="1400" dirty="0"/>
              <a:t>la capacité est de 4 To</a:t>
            </a:r>
          </a:p>
          <a:p>
            <a:endParaRPr lang="fr-FR" sz="1400" noProof="0" dirty="0"/>
          </a:p>
          <a:p>
            <a:r>
              <a:rPr lang="fr-FR" sz="1400" dirty="0"/>
              <a:t>			</a:t>
            </a:r>
            <a:r>
              <a:rPr lang="fr-FR" sz="1400" b="1" noProof="0" dirty="0"/>
              <a:t>Minimum disque requis: </a:t>
            </a:r>
            <a:r>
              <a:rPr lang="fr-FR" sz="1400" noProof="0" dirty="0"/>
              <a:t>2 disques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827A018-D744-E646-5094-31A5757E09DB}"/>
              </a:ext>
            </a:extLst>
          </p:cNvPr>
          <p:cNvSpPr/>
          <p:nvPr/>
        </p:nvSpPr>
        <p:spPr>
          <a:xfrm>
            <a:off x="5234056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Disque A</a:t>
            </a:r>
          </a:p>
          <a:p>
            <a:pPr algn="ctr"/>
            <a:r>
              <a:rPr lang="en-US" dirty="0"/>
              <a:t>D1</a:t>
            </a:r>
          </a:p>
          <a:p>
            <a:pPr algn="ctr"/>
            <a:r>
              <a:rPr lang="en-US" dirty="0"/>
              <a:t>D3</a:t>
            </a:r>
          </a:p>
          <a:p>
            <a:pPr algn="ctr"/>
            <a:r>
              <a:rPr lang="en-US" dirty="0"/>
              <a:t>D5</a:t>
            </a:r>
            <a:endParaRPr lang="fr-CA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9E548437-4AA0-DB0F-A68E-D848AB0F227A}"/>
              </a:ext>
            </a:extLst>
          </p:cNvPr>
          <p:cNvSpPr/>
          <p:nvPr/>
        </p:nvSpPr>
        <p:spPr>
          <a:xfrm>
            <a:off x="8245644" y="4800600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Disque B</a:t>
            </a:r>
          </a:p>
          <a:p>
            <a:pPr algn="ctr"/>
            <a:r>
              <a:rPr lang="en-US" dirty="0"/>
              <a:t>D2</a:t>
            </a:r>
          </a:p>
          <a:p>
            <a:pPr algn="ctr"/>
            <a:r>
              <a:rPr lang="en-US" dirty="0"/>
              <a:t>D4</a:t>
            </a:r>
          </a:p>
          <a:p>
            <a:pPr algn="ctr"/>
            <a:r>
              <a:rPr lang="en-US" dirty="0"/>
              <a:t>D6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487527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FFF6C-FE0D-C4F7-70A3-9A32D2821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869981-2505-C5DA-0C56-4E8ACE6804E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700DA9-034F-8DC9-79F1-D74805B77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3761DB-C514-8346-AC49-8AE459BDC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Donne + de sécurité moyennant moins d’espaces</a:t>
            </a:r>
          </a:p>
          <a:p>
            <a:endParaRPr lang="fr-FR" noProof="0" dirty="0"/>
          </a:p>
          <a:p>
            <a:r>
              <a:rPr lang="fr-FR" dirty="0"/>
              <a:t>Les mêmes données sont générées sur les différents disques</a:t>
            </a:r>
          </a:p>
          <a:p>
            <a:pPr marL="0" indent="0">
              <a:buNone/>
            </a:pPr>
            <a:endParaRPr lang="fr-FR" noProof="0" dirty="0"/>
          </a:p>
          <a:p>
            <a:r>
              <a:rPr lang="fr-FR" noProof="0" dirty="0"/>
              <a:t>Données (D) réparties 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EBB28EB-71FC-F604-A5BE-A785B89ACC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9047" y="2427515"/>
            <a:ext cx="4453846" cy="2209800"/>
          </a:xfrm>
        </p:spPr>
        <p:txBody>
          <a:bodyPr>
            <a:noAutofit/>
          </a:bodyPr>
          <a:lstStyle/>
          <a:p>
            <a:r>
              <a:rPr lang="fr-FR" sz="1400" b="1" dirty="0"/>
              <a:t>Sécurité : </a:t>
            </a:r>
            <a:r>
              <a:rPr lang="fr-FR" sz="1400" dirty="0"/>
              <a:t>Peut survivre les pannes si 1 disque en vie</a:t>
            </a:r>
            <a:r>
              <a:rPr lang="fr-FR" sz="1400" noProof="0" dirty="0"/>
              <a:t> 		</a:t>
            </a:r>
          </a:p>
          <a:p>
            <a:endParaRPr lang="fr-FR" sz="1400" dirty="0"/>
          </a:p>
          <a:p>
            <a:r>
              <a:rPr lang="fr-FR" sz="1400" b="1" dirty="0"/>
              <a:t>Pour 2 disques de 2 To : </a:t>
            </a:r>
            <a:r>
              <a:rPr lang="fr-FR" sz="1400" dirty="0"/>
              <a:t>la capacité est de 2 To</a:t>
            </a:r>
          </a:p>
          <a:p>
            <a:endParaRPr lang="fr-FR" sz="1400" noProof="0" dirty="0"/>
          </a:p>
          <a:p>
            <a:r>
              <a:rPr lang="fr-FR" sz="1400" dirty="0"/>
              <a:t>			</a:t>
            </a:r>
            <a:r>
              <a:rPr lang="fr-FR" sz="1400" b="1" noProof="0" dirty="0"/>
              <a:t>Minimum disque requis: </a:t>
            </a:r>
            <a:r>
              <a:rPr lang="fr-FR" sz="1400" noProof="0" dirty="0"/>
              <a:t>2 disques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B216941-2B80-4B9E-C4B1-FE874A55A9D5}"/>
              </a:ext>
            </a:extLst>
          </p:cNvPr>
          <p:cNvSpPr/>
          <p:nvPr/>
        </p:nvSpPr>
        <p:spPr>
          <a:xfrm>
            <a:off x="5234056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Disque A</a:t>
            </a:r>
          </a:p>
          <a:p>
            <a:pPr algn="ctr"/>
            <a:r>
              <a:rPr lang="en-US" dirty="0"/>
              <a:t>D1</a:t>
            </a:r>
          </a:p>
          <a:p>
            <a:pPr algn="ctr"/>
            <a:r>
              <a:rPr lang="en-US" dirty="0"/>
              <a:t>D2</a:t>
            </a:r>
          </a:p>
          <a:p>
            <a:pPr algn="ctr"/>
            <a:r>
              <a:rPr lang="en-US" dirty="0"/>
              <a:t>D3</a:t>
            </a:r>
            <a:endParaRPr lang="fr-CA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4DD2A17-7A38-A33F-360B-28822A930479}"/>
              </a:ext>
            </a:extLst>
          </p:cNvPr>
          <p:cNvSpPr/>
          <p:nvPr/>
        </p:nvSpPr>
        <p:spPr>
          <a:xfrm>
            <a:off x="8245644" y="4800600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Disque B</a:t>
            </a:r>
          </a:p>
          <a:p>
            <a:pPr algn="ctr"/>
            <a:r>
              <a:rPr lang="en-US" dirty="0"/>
              <a:t>D1</a:t>
            </a:r>
          </a:p>
          <a:p>
            <a:pPr algn="ctr"/>
            <a:r>
              <a:rPr lang="en-US" dirty="0"/>
              <a:t>D2</a:t>
            </a:r>
          </a:p>
          <a:p>
            <a:pPr algn="ctr"/>
            <a:r>
              <a:rPr lang="en-US" dirty="0"/>
              <a:t>D3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3173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EC6BF-C983-303C-AA3A-15CAD8939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6BDBB4-A69C-44E6-219D-0005F27DA41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12DCD2-E51A-EEA5-8B31-5B8622230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</a:t>
            </a:r>
            <a:r>
              <a:rPr lang="fr-FR" sz="5400" b="1" dirty="0"/>
              <a:t>5</a:t>
            </a:r>
            <a:endParaRPr lang="fr-FR" sz="5400" b="1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B31A33-EDF8-8505-1DC4-5064F1B2A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peu plus d’espaces moyennant plus d’opérations pour calculer les parités.</a:t>
            </a:r>
          </a:p>
          <a:p>
            <a:endParaRPr lang="fr-FR" noProof="0" dirty="0"/>
          </a:p>
          <a:p>
            <a:r>
              <a:rPr lang="fr-FR" dirty="0"/>
              <a:t>Les mêmes données sont générées sur les différents disques</a:t>
            </a:r>
          </a:p>
          <a:p>
            <a:pPr marL="0" indent="0">
              <a:buNone/>
            </a:pPr>
            <a:endParaRPr lang="fr-FR" noProof="0" dirty="0"/>
          </a:p>
          <a:p>
            <a:r>
              <a:rPr lang="fr-FR" noProof="0" dirty="0"/>
              <a:t>Données (D) et parités (P) réparties 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82E0A38-974E-6B5C-A132-A5F48B9FF5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9047" y="2427515"/>
            <a:ext cx="4453846" cy="2209800"/>
          </a:xfrm>
        </p:spPr>
        <p:txBody>
          <a:bodyPr>
            <a:noAutofit/>
          </a:bodyPr>
          <a:lstStyle/>
          <a:p>
            <a:r>
              <a:rPr lang="fr-FR" sz="1400" b="1" dirty="0"/>
              <a:t>Sécurité : </a:t>
            </a:r>
            <a:r>
              <a:rPr lang="fr-FR" sz="1400" dirty="0"/>
              <a:t>Peut survivre les pannes si 1 disque en vie</a:t>
            </a:r>
            <a:r>
              <a:rPr lang="fr-FR" sz="1400" noProof="0" dirty="0"/>
              <a:t> 		</a:t>
            </a:r>
          </a:p>
          <a:p>
            <a:endParaRPr lang="fr-FR" sz="1400" dirty="0"/>
          </a:p>
          <a:p>
            <a:r>
              <a:rPr lang="fr-FR" sz="1400" b="1" dirty="0"/>
              <a:t>Pour 2 disques de 2 To : </a:t>
            </a:r>
            <a:r>
              <a:rPr lang="fr-FR" sz="1400" dirty="0"/>
              <a:t>la capacité est de 2 To</a:t>
            </a:r>
          </a:p>
          <a:p>
            <a:endParaRPr lang="fr-FR" sz="1400" noProof="0" dirty="0"/>
          </a:p>
          <a:p>
            <a:r>
              <a:rPr lang="fr-FR" sz="1400" dirty="0"/>
              <a:t>			</a:t>
            </a:r>
            <a:r>
              <a:rPr lang="fr-FR" sz="1400" b="1" noProof="0" dirty="0"/>
              <a:t>Minimum disque requis: </a:t>
            </a:r>
            <a:r>
              <a:rPr lang="fr-FR" sz="1400" noProof="0" dirty="0"/>
              <a:t>2 disques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BAA3FCF-3E68-10D3-C02E-A6955D7B8C22}"/>
              </a:ext>
            </a:extLst>
          </p:cNvPr>
          <p:cNvSpPr/>
          <p:nvPr/>
        </p:nvSpPr>
        <p:spPr>
          <a:xfrm>
            <a:off x="5234056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Disque B</a:t>
            </a:r>
          </a:p>
          <a:p>
            <a:pPr algn="ctr"/>
            <a:r>
              <a:rPr lang="en-US" dirty="0"/>
              <a:t>P1</a:t>
            </a:r>
          </a:p>
          <a:p>
            <a:pPr algn="ctr"/>
            <a:r>
              <a:rPr lang="en-US" dirty="0"/>
              <a:t>D2</a:t>
            </a:r>
          </a:p>
          <a:p>
            <a:pPr algn="ctr"/>
            <a:r>
              <a:rPr lang="en-US" dirty="0"/>
              <a:t>D3</a:t>
            </a:r>
            <a:endParaRPr lang="fr-CA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8A23A92C-359E-8FA9-36A8-AEC49AA7EF9E}"/>
              </a:ext>
            </a:extLst>
          </p:cNvPr>
          <p:cNvSpPr/>
          <p:nvPr/>
        </p:nvSpPr>
        <p:spPr>
          <a:xfrm>
            <a:off x="8245644" y="4800600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Disque C</a:t>
            </a:r>
          </a:p>
          <a:p>
            <a:pPr algn="ctr"/>
            <a:r>
              <a:rPr lang="en-US" dirty="0"/>
              <a:t>D1</a:t>
            </a:r>
          </a:p>
          <a:p>
            <a:pPr algn="ctr"/>
            <a:r>
              <a:rPr lang="en-US" dirty="0"/>
              <a:t>D2</a:t>
            </a:r>
          </a:p>
          <a:p>
            <a:pPr algn="ctr"/>
            <a:r>
              <a:rPr lang="en-US" dirty="0"/>
              <a:t>P3</a:t>
            </a:r>
            <a:endParaRPr lang="fr-CA" dirty="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43F42F83-0B26-85E7-CF33-ABB4565FFD8C}"/>
              </a:ext>
            </a:extLst>
          </p:cNvPr>
          <p:cNvSpPr/>
          <p:nvPr/>
        </p:nvSpPr>
        <p:spPr>
          <a:xfrm>
            <a:off x="2092224" y="4795152"/>
            <a:ext cx="2804948" cy="1371600"/>
          </a:xfrm>
          <a:prstGeom prst="ellipse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Disque A</a:t>
            </a:r>
          </a:p>
          <a:p>
            <a:pPr algn="ctr"/>
            <a:r>
              <a:rPr lang="en-US" dirty="0"/>
              <a:t>D1</a:t>
            </a:r>
          </a:p>
          <a:p>
            <a:pPr algn="ctr"/>
            <a:r>
              <a:rPr lang="en-US" dirty="0"/>
              <a:t>P2</a:t>
            </a:r>
          </a:p>
          <a:p>
            <a:pPr algn="ctr"/>
            <a:r>
              <a:rPr lang="en-US" dirty="0"/>
              <a:t>D3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121081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67058-9575-B854-786F-3262E6C8C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8E68BC-52D5-4AC9-4D8A-9514D5561C3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707F94-050E-EAB5-C84F-9E206758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28CE09-D8ED-23FA-438E-513CC378E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noProof="0" dirty="0"/>
              <a:t>- tolérances : 1 panne</a:t>
            </a:r>
          </a:p>
          <a:p>
            <a:r>
              <a:rPr lang="fr-FR" noProof="0" dirty="0"/>
              <a:t>- capacité = n - 1 x D</a:t>
            </a:r>
          </a:p>
          <a:p>
            <a:endParaRPr lang="fr-FR" noProof="0" dirty="0"/>
          </a:p>
          <a:p>
            <a:r>
              <a:rPr lang="fr-FR" noProof="0" dirty="0"/>
              <a:t>Répartition + une parité distribuée</a:t>
            </a:r>
          </a:p>
          <a:p>
            <a:endParaRPr lang="fr-FR" noProof="0" dirty="0"/>
          </a:p>
          <a:p>
            <a:r>
              <a:rPr lang="fr-FR" u="sng" noProof="0" dirty="0"/>
              <a:t> </a:t>
            </a:r>
            <a:r>
              <a:rPr lang="fr-FR" sz="1400" u="sng" noProof="0" dirty="0"/>
              <a:t>disque A   disque B   disque C</a:t>
            </a:r>
          </a:p>
          <a:p>
            <a:r>
              <a:rPr lang="fr-FR" sz="1400" u="sng" noProof="0" dirty="0"/>
              <a:t>rangée 1     D1         D2         P1</a:t>
            </a:r>
          </a:p>
          <a:p>
            <a:r>
              <a:rPr lang="fr-FR" sz="1400" u="sng" noProof="0" dirty="0"/>
              <a:t>rangée 2     D3         P2         D4</a:t>
            </a:r>
          </a:p>
          <a:p>
            <a:r>
              <a:rPr lang="fr-FR" sz="1400" u="sng" noProof="0" dirty="0"/>
              <a:t>rangée 3     P3         D5         D6</a:t>
            </a:r>
          </a:p>
          <a:p>
            <a:r>
              <a:rPr lang="fr-FR" sz="1400" u="sng" noProof="0" dirty="0"/>
              <a:t>+++++++</a:t>
            </a:r>
          </a:p>
          <a:p>
            <a:r>
              <a:rPr lang="fr-FR" sz="1400" u="sng" noProof="0" dirty="0"/>
              <a:t> disque A   disque B</a:t>
            </a:r>
          </a:p>
          <a:p>
            <a:r>
              <a:rPr lang="fr-FR" sz="1400" u="sng" noProof="0" dirty="0"/>
              <a:t>bloc 1       A1         A2</a:t>
            </a:r>
          </a:p>
          <a:p>
            <a:r>
              <a:rPr lang="fr-FR" sz="1400" u="sng" noProof="0" dirty="0"/>
              <a:t>bloc 2       A3         A4</a:t>
            </a:r>
          </a:p>
          <a:p>
            <a:r>
              <a:rPr lang="fr-FR" sz="1400" u="sng" noProof="0" dirty="0"/>
              <a:t>bloc 3       A5         A6</a:t>
            </a:r>
          </a:p>
          <a:p>
            <a:endParaRPr lang="fr-FR" sz="1400" noProof="0" dirty="0"/>
          </a:p>
          <a:p>
            <a:endParaRPr lang="fr-FR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FAA5C6-57FC-7ADC-5D19-D416EC9DB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noProof="0" dirty="0"/>
              <a:t>Minimum : 3 disques</a:t>
            </a:r>
          </a:p>
        </p:txBody>
      </p:sp>
    </p:spTree>
    <p:extLst>
      <p:ext uri="{BB962C8B-B14F-4D97-AF65-F5344CB8AC3E}">
        <p14:creationId xmlns:p14="http://schemas.microsoft.com/office/powerpoint/2010/main" val="2211607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FC7AE-B2F2-4D74-1BB8-0CF16E781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A46594-D565-A9D6-6E06-738016FC7D4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1" y="-59431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8B5B38-AC56-77F2-8047-96F702026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6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C0D097-B33E-31C7-D193-FE70777D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- </a:t>
            </a:r>
            <a:r>
              <a:rPr lang="fr-FR" noProof="0" dirty="0" err="1"/>
              <a:t>tolerances</a:t>
            </a:r>
            <a:r>
              <a:rPr lang="fr-FR" noProof="0" dirty="0"/>
              <a:t> : 2 pannes</a:t>
            </a:r>
          </a:p>
          <a:p>
            <a:r>
              <a:rPr lang="fr-FR" noProof="0" dirty="0"/>
              <a:t>- capacité = (n – 2) x D</a:t>
            </a:r>
          </a:p>
          <a:p>
            <a:r>
              <a:rPr lang="fr-FR" noProof="0" dirty="0" err="1"/>
              <a:t>Repartion</a:t>
            </a:r>
            <a:r>
              <a:rPr lang="fr-FR" noProof="0" dirty="0"/>
              <a:t> + 2 </a:t>
            </a:r>
            <a:r>
              <a:rPr lang="fr-FR" noProof="0" dirty="0" err="1"/>
              <a:t>paritées</a:t>
            </a:r>
            <a:endParaRPr lang="fr-FR" noProof="0" dirty="0"/>
          </a:p>
          <a:p>
            <a:r>
              <a:rPr lang="fr-FR" sz="1200" u="sng" noProof="0" dirty="0"/>
              <a:t> disque A   disque B</a:t>
            </a:r>
          </a:p>
          <a:p>
            <a:r>
              <a:rPr lang="fr-FR" sz="1200" u="sng" noProof="0" dirty="0"/>
              <a:t>bloc 1       A1         A2</a:t>
            </a:r>
          </a:p>
          <a:p>
            <a:r>
              <a:rPr lang="fr-FR" sz="1200" u="sng" noProof="0" dirty="0"/>
              <a:t>bloc 2       A3         A4</a:t>
            </a:r>
          </a:p>
          <a:p>
            <a:r>
              <a:rPr lang="fr-FR" sz="1200" u="sng" noProof="0" dirty="0"/>
              <a:t>bloc 3       A5         A6</a:t>
            </a:r>
          </a:p>
          <a:p>
            <a:r>
              <a:rPr lang="fr-FR" sz="1200" u="sng" noProof="0" dirty="0"/>
              <a:t>++++++  2 fois </a:t>
            </a:r>
          </a:p>
          <a:p>
            <a:r>
              <a:rPr lang="fr-FR" sz="1200" u="sng" noProof="0" dirty="0"/>
              <a:t> disque A   disque B   disque C</a:t>
            </a:r>
          </a:p>
          <a:p>
            <a:r>
              <a:rPr lang="fr-FR" sz="1200" u="sng" noProof="0" dirty="0"/>
              <a:t>rangée 1     D1         D2         P1</a:t>
            </a:r>
          </a:p>
          <a:p>
            <a:r>
              <a:rPr lang="fr-FR" sz="1200" u="sng" noProof="0" dirty="0"/>
              <a:t>rangée 2     D3         P2         D4</a:t>
            </a:r>
          </a:p>
          <a:p>
            <a:r>
              <a:rPr lang="fr-FR" sz="1200" u="sng" noProof="0" dirty="0"/>
              <a:t>rangée 3     P3         D5         D6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C85A6CB-80ED-6DB8-77DA-91A592FAD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noProof="0" dirty="0"/>
              <a:t>Minimum : 4 disques</a:t>
            </a:r>
          </a:p>
        </p:txBody>
      </p:sp>
    </p:spTree>
    <p:extLst>
      <p:ext uri="{BB962C8B-B14F-4D97-AF65-F5344CB8AC3E}">
        <p14:creationId xmlns:p14="http://schemas.microsoft.com/office/powerpoint/2010/main" val="3876045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0395A-6678-86BA-D1EF-D254741B7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40A7B8-DB8A-D700-5D19-7DCD321601B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6ECE21-E937-92F5-8FCD-C94657896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114305"/>
            <a:ext cx="3549121" cy="1371600"/>
          </a:xfrm>
        </p:spPr>
        <p:txBody>
          <a:bodyPr>
            <a:normAutofit/>
          </a:bodyPr>
          <a:lstStyle/>
          <a:p>
            <a:pPr algn="ctr"/>
            <a:r>
              <a:rPr lang="fr-FR" sz="5400" b="1" noProof="0" dirty="0"/>
              <a:t>Raid 10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526CF9-A8CF-CA99-8B9D-DBEB25560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- tolérances : dépends des paires miroirs touchés.</a:t>
            </a:r>
          </a:p>
          <a:p>
            <a:r>
              <a:rPr lang="fr-FR" noProof="0" dirty="0"/>
              <a:t>- capacité = (n / 2) x D</a:t>
            </a:r>
          </a:p>
          <a:p>
            <a:endParaRPr lang="fr-FR" noProof="0" dirty="0"/>
          </a:p>
          <a:p>
            <a:r>
              <a:rPr lang="fr-FR" noProof="0" dirty="0"/>
              <a:t>Divises les fichiers en 2 disques pour augmenter le nombre de mémoire donnée au processeur en même temps. Si 1 crash, ce n’est pas récupérable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40D592-BADA-E4C7-2F56-73B8FBFB814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noProof="0" dirty="0"/>
              <a:t>Minimum : 4 disques (nombre pair)</a:t>
            </a:r>
          </a:p>
        </p:txBody>
      </p:sp>
    </p:spTree>
    <p:extLst>
      <p:ext uri="{BB962C8B-B14F-4D97-AF65-F5344CB8AC3E}">
        <p14:creationId xmlns:p14="http://schemas.microsoft.com/office/powerpoint/2010/main" val="122772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D975A-8CC3-F4BA-24B6-486225930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0CB90F-FAB2-2F59-F7C9-9DE8540DC2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5000"/>
          </a:blip>
          <a:srcRect t="7098" b="2176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BBE23D-0B95-0C10-EF51-C49A3B358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3547" y="228600"/>
            <a:ext cx="8884906" cy="1371600"/>
          </a:xfrm>
        </p:spPr>
        <p:txBody>
          <a:bodyPr>
            <a:normAutofit fontScale="90000"/>
          </a:bodyPr>
          <a:lstStyle/>
          <a:p>
            <a:pPr algn="ctr"/>
            <a:r>
              <a:rPr lang="fr-FR" sz="5400" b="1" noProof="0" dirty="0"/>
              <a:t>Raid n’est pas une sauvegarde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3E5169-84D5-DE83-3226-EAF701330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Pourquoi cela ne remplace pas une sauvegarde</a:t>
            </a:r>
          </a:p>
          <a:p>
            <a:endParaRPr lang="fr-FR" dirty="0"/>
          </a:p>
          <a:p>
            <a:r>
              <a:rPr lang="fr-FR" noProof="0" dirty="0"/>
              <a:t>1 exemple ou RAID aide </a:t>
            </a:r>
          </a:p>
          <a:p>
            <a:r>
              <a:rPr lang="fr-FR" dirty="0"/>
              <a:t>1 exemple ou RAID n’est pas suffisant.</a:t>
            </a:r>
            <a:endParaRPr lang="fr-FR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9854642-BC77-97DF-8A66-2F1B0B2EE47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noProof="0" dirty="0"/>
              <a:t>Minimum : 4 disques (nombre pair)</a:t>
            </a:r>
          </a:p>
        </p:txBody>
      </p:sp>
    </p:spTree>
    <p:extLst>
      <p:ext uri="{BB962C8B-B14F-4D97-AF65-F5344CB8AC3E}">
        <p14:creationId xmlns:p14="http://schemas.microsoft.com/office/powerpoint/2010/main" val="42422676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606</TotalTime>
  <Words>504</Words>
  <Application>Microsoft Office PowerPoint</Application>
  <PresentationFormat>Grand écran</PresentationFormat>
  <Paragraphs>114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Cartes éclair sur le RAID</vt:lpstr>
      <vt:lpstr>Exemple</vt:lpstr>
      <vt:lpstr>Raid 0</vt:lpstr>
      <vt:lpstr>Raid 1</vt:lpstr>
      <vt:lpstr>Raid 5</vt:lpstr>
      <vt:lpstr>Raid 5</vt:lpstr>
      <vt:lpstr>Raid 6</vt:lpstr>
      <vt:lpstr>Raid 10</vt:lpstr>
      <vt:lpstr>Raid n’est pas une sauvegarde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Gauvreau Louis</dc:creator>
  <cp:lastModifiedBy>Gauvreau Louis</cp:lastModifiedBy>
  <cp:revision>3</cp:revision>
  <dcterms:created xsi:type="dcterms:W3CDTF">2026-09-13T17:44:40Z</dcterms:created>
  <dcterms:modified xsi:type="dcterms:W3CDTF">2026-09-14T06:54:34Z</dcterms:modified>
</cp:coreProperties>
</file>