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0" r:id="rId1"/>
  </p:sldMasterIdLst>
  <p:sldIdLst>
    <p:sldId id="256" r:id="rId2"/>
    <p:sldId id="258" r:id="rId3"/>
    <p:sldId id="265" r:id="rId4"/>
    <p:sldId id="266" r:id="rId5"/>
    <p:sldId id="267" r:id="rId6"/>
    <p:sldId id="268" r:id="rId7"/>
    <p:sldId id="26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250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183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4603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553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628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344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193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816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80C50CD-E178-4744-9B35-B2F624D6C5E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85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47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6140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6745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3890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6728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3484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0218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152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80C50CD-E178-4744-9B35-B2F624D6C5E9}" type="datetimeFigureOut">
              <a:rPr lang="en-US" smtClean="0"/>
              <a:pPr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04153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1" r:id="rId1"/>
    <p:sldLayoutId id="2147483732" r:id="rId2"/>
    <p:sldLayoutId id="2147483733" r:id="rId3"/>
    <p:sldLayoutId id="2147483734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740" r:id="rId10"/>
    <p:sldLayoutId id="2147483741" r:id="rId11"/>
    <p:sldLayoutId id="2147483742" r:id="rId12"/>
    <p:sldLayoutId id="2147483743" r:id="rId13"/>
    <p:sldLayoutId id="2147483744" r:id="rId14"/>
    <p:sldLayoutId id="2147483745" r:id="rId15"/>
    <p:sldLayoutId id="2147483746" r:id="rId16"/>
    <p:sldLayoutId id="214748374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37CF4-13F3-EAB7-3F5F-7CBAD6DDE5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012" y="4363271"/>
            <a:ext cx="8676222" cy="1066801"/>
          </a:xfrm>
        </p:spPr>
        <p:txBody>
          <a:bodyPr>
            <a:normAutofit/>
          </a:bodyPr>
          <a:lstStyle/>
          <a:p>
            <a:r>
              <a:rPr lang="fr-FR" noProof="0" dirty="0"/>
              <a:t>Cartes éclair sur RAID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49313C-E53F-EB47-3572-2CEF6C67E5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012" y="5516211"/>
            <a:ext cx="8676222" cy="72224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fr-FR" sz="1800" noProof="0" dirty="0"/>
              <a:t>Louis Gauvreau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7EFA1F-0493-4276-1F9F-C9A4EA4BE4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191" b="19270"/>
          <a:stretch>
            <a:fillRect/>
          </a:stretch>
        </p:blipFill>
        <p:spPr>
          <a:xfrm>
            <a:off x="20" y="10"/>
            <a:ext cx="12191980" cy="427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102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F631D3-E6BF-D24E-EF0D-A9F314B24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D29C026-17B4-C248-6FBC-50399560357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</a:blip>
          <a:srcRect t="7098" b="2176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D86CB5-EE95-389B-6330-A96F186C0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0" y="114305"/>
            <a:ext cx="3549121" cy="1371600"/>
          </a:xfrm>
        </p:spPr>
        <p:txBody>
          <a:bodyPr>
            <a:normAutofit/>
          </a:bodyPr>
          <a:lstStyle/>
          <a:p>
            <a:pPr algn="ctr"/>
            <a:r>
              <a:rPr lang="fr-FR" sz="5400" b="1" noProof="0" dirty="0"/>
              <a:t>Raid 0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F8DEE5E-8CCA-0B10-2B6E-71EFD7AFB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Accès à le plus d’espaces  moyennant plus de risque.</a:t>
            </a:r>
          </a:p>
          <a:p>
            <a:endParaRPr lang="fr-FR" noProof="0" dirty="0"/>
          </a:p>
          <a:p>
            <a:r>
              <a:rPr lang="fr-FR" noProof="0" dirty="0"/>
              <a:t>Distribue les fichiers dans tous les disques pour augmenter le nombre de mémoire donnée au processeur en même temps. </a:t>
            </a:r>
          </a:p>
          <a:p>
            <a:pPr marL="0" indent="0">
              <a:buNone/>
            </a:pPr>
            <a:endParaRPr lang="fr-FR" noProof="0" dirty="0"/>
          </a:p>
          <a:p>
            <a:r>
              <a:rPr lang="fr-FR" noProof="0" dirty="0"/>
              <a:t>Données (D) réparties 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67BE75-AAAC-3D63-2644-77230A0181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9047" y="2427515"/>
            <a:ext cx="4453846" cy="2209800"/>
          </a:xfrm>
        </p:spPr>
        <p:txBody>
          <a:bodyPr>
            <a:noAutofit/>
          </a:bodyPr>
          <a:lstStyle/>
          <a:p>
            <a:r>
              <a:rPr lang="fr-FR" sz="1400" b="1" noProof="0" dirty="0"/>
              <a:t>Sécurité : </a:t>
            </a:r>
            <a:r>
              <a:rPr lang="fr-FR" sz="1400" noProof="0" dirty="0"/>
              <a:t>on perd les données.			</a:t>
            </a:r>
          </a:p>
          <a:p>
            <a:endParaRPr lang="fr-FR" sz="1400" noProof="0" dirty="0"/>
          </a:p>
          <a:p>
            <a:r>
              <a:rPr lang="fr-FR" sz="1400" b="1" noProof="0" dirty="0"/>
              <a:t>Pour 2 disques de 2 To : </a:t>
            </a:r>
            <a:r>
              <a:rPr lang="fr-FR" sz="1400" noProof="0" dirty="0"/>
              <a:t>la capacité est de 4 To</a:t>
            </a:r>
          </a:p>
          <a:p>
            <a:endParaRPr lang="fr-FR" sz="1400" noProof="0" dirty="0"/>
          </a:p>
          <a:p>
            <a:r>
              <a:rPr lang="fr-FR" sz="1400" noProof="0" dirty="0"/>
              <a:t>			</a:t>
            </a:r>
            <a:r>
              <a:rPr lang="fr-FR" sz="1400" b="1" noProof="0" dirty="0"/>
              <a:t>Minimum disque requis: </a:t>
            </a:r>
            <a:r>
              <a:rPr lang="fr-FR" sz="1400" noProof="0" dirty="0"/>
              <a:t>2 disques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A827A018-D744-E646-5094-31A5757E09DB}"/>
              </a:ext>
            </a:extLst>
          </p:cNvPr>
          <p:cNvSpPr/>
          <p:nvPr/>
        </p:nvSpPr>
        <p:spPr>
          <a:xfrm>
            <a:off x="5234056" y="4795152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noProof="0" dirty="0"/>
              <a:t>Disque A</a:t>
            </a:r>
          </a:p>
          <a:p>
            <a:pPr algn="ctr"/>
            <a:r>
              <a:rPr lang="fr-FR" noProof="0" dirty="0"/>
              <a:t>D1</a:t>
            </a:r>
          </a:p>
          <a:p>
            <a:pPr algn="ctr"/>
            <a:r>
              <a:rPr lang="fr-FR" noProof="0" dirty="0"/>
              <a:t>D3</a:t>
            </a:r>
          </a:p>
          <a:p>
            <a:pPr algn="ctr"/>
            <a:r>
              <a:rPr lang="fr-FR" noProof="0" dirty="0"/>
              <a:t>D5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9E548437-4AA0-DB0F-A68E-D848AB0F227A}"/>
              </a:ext>
            </a:extLst>
          </p:cNvPr>
          <p:cNvSpPr/>
          <p:nvPr/>
        </p:nvSpPr>
        <p:spPr>
          <a:xfrm>
            <a:off x="8245644" y="4800600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noProof="0" dirty="0"/>
              <a:t>Disque B</a:t>
            </a:r>
          </a:p>
          <a:p>
            <a:pPr algn="ctr"/>
            <a:r>
              <a:rPr lang="fr-FR" noProof="0" dirty="0"/>
              <a:t>D2</a:t>
            </a:r>
          </a:p>
          <a:p>
            <a:pPr algn="ctr"/>
            <a:r>
              <a:rPr lang="fr-FR" noProof="0" dirty="0"/>
              <a:t>D4</a:t>
            </a:r>
          </a:p>
          <a:p>
            <a:pPr algn="ctr"/>
            <a:r>
              <a:rPr lang="fr-FR" noProof="0" dirty="0"/>
              <a:t>D6</a:t>
            </a:r>
          </a:p>
        </p:txBody>
      </p:sp>
    </p:spTree>
    <p:extLst>
      <p:ext uri="{BB962C8B-B14F-4D97-AF65-F5344CB8AC3E}">
        <p14:creationId xmlns:p14="http://schemas.microsoft.com/office/powerpoint/2010/main" val="1487527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FFF6C-FE0D-C4F7-70A3-9A32D2821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F869981-2505-C5DA-0C56-4E8ACE6804E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t="7098" b="2176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700DA9-034F-8DC9-79F1-D74805B77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0" y="114305"/>
            <a:ext cx="3549121" cy="1371600"/>
          </a:xfrm>
        </p:spPr>
        <p:txBody>
          <a:bodyPr>
            <a:normAutofit/>
          </a:bodyPr>
          <a:lstStyle/>
          <a:p>
            <a:pPr algn="ctr"/>
            <a:r>
              <a:rPr lang="fr-FR" sz="5400" b="1" noProof="0" dirty="0"/>
              <a:t>Raid 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3761DB-C514-8346-AC49-8AE459BDC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Donne plus de sécurité moyennant moins d’espaces</a:t>
            </a:r>
          </a:p>
          <a:p>
            <a:endParaRPr lang="fr-FR" noProof="0" dirty="0"/>
          </a:p>
          <a:p>
            <a:r>
              <a:rPr lang="fr-FR" noProof="0" dirty="0"/>
              <a:t>Les mêmes données sont générées sur les différents disques</a:t>
            </a:r>
          </a:p>
          <a:p>
            <a:pPr marL="0" indent="0">
              <a:buNone/>
            </a:pPr>
            <a:endParaRPr lang="fr-FR" noProof="0" dirty="0"/>
          </a:p>
          <a:p>
            <a:r>
              <a:rPr lang="fr-FR" noProof="0" dirty="0"/>
              <a:t>Données (D) réparties 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EBB28EB-71FC-F604-A5BE-A785B89ACC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9047" y="2427515"/>
            <a:ext cx="4453846" cy="2209800"/>
          </a:xfrm>
        </p:spPr>
        <p:txBody>
          <a:bodyPr>
            <a:noAutofit/>
          </a:bodyPr>
          <a:lstStyle/>
          <a:p>
            <a:r>
              <a:rPr lang="fr-FR" sz="1400" b="1" noProof="0" dirty="0"/>
              <a:t>Sécurité : </a:t>
            </a:r>
            <a:r>
              <a:rPr lang="fr-FR" sz="1400" noProof="0" dirty="0"/>
              <a:t>Peut survivre les pannes si 1 disque en vie 		</a:t>
            </a:r>
          </a:p>
          <a:p>
            <a:endParaRPr lang="fr-FR" sz="1400" noProof="0" dirty="0"/>
          </a:p>
          <a:p>
            <a:r>
              <a:rPr lang="fr-FR" sz="1400" b="1" noProof="0" dirty="0"/>
              <a:t>Pour 2 disques de 2 To : </a:t>
            </a:r>
            <a:r>
              <a:rPr lang="fr-FR" sz="1400" noProof="0" dirty="0"/>
              <a:t>la capacité est de 2 To</a:t>
            </a:r>
          </a:p>
          <a:p>
            <a:endParaRPr lang="fr-FR" sz="1400" noProof="0" dirty="0"/>
          </a:p>
          <a:p>
            <a:r>
              <a:rPr lang="fr-FR" sz="1400" noProof="0" dirty="0"/>
              <a:t>			</a:t>
            </a:r>
            <a:r>
              <a:rPr lang="fr-FR" sz="1400" b="1" noProof="0" dirty="0"/>
              <a:t>Minimum disque requis: </a:t>
            </a:r>
            <a:r>
              <a:rPr lang="fr-FR" sz="1400" noProof="0" dirty="0"/>
              <a:t>2 disques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B216941-2B80-4B9E-C4B1-FE874A55A9D5}"/>
              </a:ext>
            </a:extLst>
          </p:cNvPr>
          <p:cNvSpPr/>
          <p:nvPr/>
        </p:nvSpPr>
        <p:spPr>
          <a:xfrm>
            <a:off x="5234056" y="4795152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noProof="0" dirty="0"/>
              <a:t>Disque A</a:t>
            </a:r>
          </a:p>
          <a:p>
            <a:pPr algn="ctr"/>
            <a:r>
              <a:rPr lang="fr-FR" noProof="0" dirty="0"/>
              <a:t>D1</a:t>
            </a:r>
          </a:p>
          <a:p>
            <a:pPr algn="ctr"/>
            <a:r>
              <a:rPr lang="fr-FR" noProof="0" dirty="0"/>
              <a:t>D2</a:t>
            </a:r>
          </a:p>
          <a:p>
            <a:pPr algn="ctr"/>
            <a:r>
              <a:rPr lang="fr-FR" noProof="0" dirty="0"/>
              <a:t>D3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54DD2A17-7A38-A33F-360B-28822A930479}"/>
              </a:ext>
            </a:extLst>
          </p:cNvPr>
          <p:cNvSpPr/>
          <p:nvPr/>
        </p:nvSpPr>
        <p:spPr>
          <a:xfrm>
            <a:off x="8245644" y="4800600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noProof="0" dirty="0"/>
              <a:t>Disque B</a:t>
            </a:r>
          </a:p>
          <a:p>
            <a:pPr algn="ctr"/>
            <a:r>
              <a:rPr lang="fr-FR" noProof="0" dirty="0"/>
              <a:t>D1</a:t>
            </a:r>
          </a:p>
          <a:p>
            <a:pPr algn="ctr"/>
            <a:r>
              <a:rPr lang="fr-FR" noProof="0" dirty="0"/>
              <a:t>D2</a:t>
            </a:r>
          </a:p>
          <a:p>
            <a:pPr algn="ctr"/>
            <a:r>
              <a:rPr lang="fr-FR" noProof="0" dirty="0"/>
              <a:t>D3</a:t>
            </a:r>
          </a:p>
        </p:txBody>
      </p:sp>
    </p:spTree>
    <p:extLst>
      <p:ext uri="{BB962C8B-B14F-4D97-AF65-F5344CB8AC3E}">
        <p14:creationId xmlns:p14="http://schemas.microsoft.com/office/powerpoint/2010/main" val="531739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EC6BF-C983-303C-AA3A-15CAD8939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66BDBB4-A69C-44E6-219D-0005F27DA41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t="7098" b="2176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12DCD2-E51A-EEA5-8B31-5B8622230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0" y="114305"/>
            <a:ext cx="3549121" cy="1371600"/>
          </a:xfrm>
        </p:spPr>
        <p:txBody>
          <a:bodyPr>
            <a:normAutofit/>
          </a:bodyPr>
          <a:lstStyle/>
          <a:p>
            <a:pPr algn="ctr"/>
            <a:r>
              <a:rPr lang="fr-FR" sz="5400" b="1" noProof="0" dirty="0"/>
              <a:t>Raid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B31A33-EDF8-8505-1DC4-5064F1B2A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Un peu plus d’espaces moyennant plus d’opérations pour calculer les parités.</a:t>
            </a:r>
          </a:p>
          <a:p>
            <a:endParaRPr lang="fr-FR" noProof="0" dirty="0"/>
          </a:p>
          <a:p>
            <a:r>
              <a:rPr lang="fr-FR" noProof="0" dirty="0"/>
              <a:t>Des données en « backup » sont enregistré dans chaque disque et les données sont réparties dans les différents disques (comme dans RAID 0)</a:t>
            </a:r>
          </a:p>
          <a:p>
            <a:r>
              <a:rPr lang="fr-FR" noProof="0" dirty="0"/>
              <a:t>Données (D) et </a:t>
            </a:r>
            <a:r>
              <a:rPr lang="fr-FR" noProof="0" dirty="0">
                <a:solidFill>
                  <a:srgbClr val="FF0000"/>
                </a:solidFill>
              </a:rPr>
              <a:t>parités (P) </a:t>
            </a:r>
            <a:r>
              <a:rPr lang="fr-FR" noProof="0" dirty="0"/>
              <a:t>réparties 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82E0A38-974E-6B5C-A132-A5F48B9FF5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9047" y="2427515"/>
            <a:ext cx="4453846" cy="2209800"/>
          </a:xfrm>
        </p:spPr>
        <p:txBody>
          <a:bodyPr>
            <a:noAutofit/>
          </a:bodyPr>
          <a:lstStyle/>
          <a:p>
            <a:r>
              <a:rPr lang="fr-FR" sz="1400" b="1" noProof="0" dirty="0"/>
              <a:t>Sécurité : </a:t>
            </a:r>
            <a:r>
              <a:rPr lang="fr-FR" sz="1400" noProof="0" dirty="0"/>
              <a:t>Peut survivre si seulement 1 disque en panne.		</a:t>
            </a:r>
          </a:p>
          <a:p>
            <a:endParaRPr lang="fr-FR" sz="1400" noProof="0" dirty="0"/>
          </a:p>
          <a:p>
            <a:r>
              <a:rPr lang="fr-FR" sz="1400" b="1" noProof="0" dirty="0"/>
              <a:t>Pour 3 disques de 2 To : </a:t>
            </a:r>
            <a:r>
              <a:rPr lang="fr-FR" sz="1400" noProof="0" dirty="0"/>
              <a:t>la capacité est de 4 To</a:t>
            </a:r>
          </a:p>
          <a:p>
            <a:endParaRPr lang="fr-FR" sz="1400" noProof="0" dirty="0"/>
          </a:p>
          <a:p>
            <a:r>
              <a:rPr lang="fr-FR" sz="1400" noProof="0" dirty="0"/>
              <a:t>			</a:t>
            </a:r>
            <a:r>
              <a:rPr lang="fr-FR" sz="1400" b="1" noProof="0" dirty="0"/>
              <a:t>Minimum disque requis: 3</a:t>
            </a:r>
            <a:r>
              <a:rPr lang="fr-FR" sz="1400" noProof="0" dirty="0"/>
              <a:t> disques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ABAA3FCF-3E68-10D3-C02E-A6955D7B8C22}"/>
              </a:ext>
            </a:extLst>
          </p:cNvPr>
          <p:cNvSpPr/>
          <p:nvPr/>
        </p:nvSpPr>
        <p:spPr>
          <a:xfrm>
            <a:off x="5234056" y="4795152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noProof="0" dirty="0"/>
              <a:t>Disque B</a:t>
            </a:r>
          </a:p>
          <a:p>
            <a:pPr algn="ctr"/>
            <a:r>
              <a:rPr lang="fr-FR" noProof="0" dirty="0">
                <a:solidFill>
                  <a:srgbClr val="FF0000"/>
                </a:solidFill>
              </a:rPr>
              <a:t>P1</a:t>
            </a:r>
          </a:p>
          <a:p>
            <a:pPr algn="ctr"/>
            <a:r>
              <a:rPr lang="fr-FR" noProof="0" dirty="0"/>
              <a:t>D2</a:t>
            </a:r>
          </a:p>
          <a:p>
            <a:pPr algn="ctr"/>
            <a:r>
              <a:rPr lang="fr-FR" noProof="0" dirty="0"/>
              <a:t>D5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8A23A92C-359E-8FA9-36A8-AEC49AA7EF9E}"/>
              </a:ext>
            </a:extLst>
          </p:cNvPr>
          <p:cNvSpPr/>
          <p:nvPr/>
        </p:nvSpPr>
        <p:spPr>
          <a:xfrm>
            <a:off x="8245644" y="4800600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noProof="0" dirty="0"/>
              <a:t>Disque C</a:t>
            </a:r>
          </a:p>
          <a:p>
            <a:pPr algn="ctr"/>
            <a:r>
              <a:rPr lang="fr-FR" noProof="0" dirty="0"/>
              <a:t>D3</a:t>
            </a:r>
          </a:p>
          <a:p>
            <a:pPr algn="ctr"/>
            <a:r>
              <a:rPr lang="fr-FR" noProof="0" dirty="0"/>
              <a:t>D6</a:t>
            </a:r>
          </a:p>
          <a:p>
            <a:pPr algn="ctr"/>
            <a:r>
              <a:rPr lang="fr-FR" noProof="0" dirty="0">
                <a:solidFill>
                  <a:srgbClr val="FF0000"/>
                </a:solidFill>
              </a:rPr>
              <a:t>P3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43F42F83-0B26-85E7-CF33-ABB4565FFD8C}"/>
              </a:ext>
            </a:extLst>
          </p:cNvPr>
          <p:cNvSpPr/>
          <p:nvPr/>
        </p:nvSpPr>
        <p:spPr>
          <a:xfrm>
            <a:off x="2092224" y="4795152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noProof="0" dirty="0"/>
              <a:t>Disque A</a:t>
            </a:r>
          </a:p>
          <a:p>
            <a:pPr algn="ctr"/>
            <a:r>
              <a:rPr lang="fr-FR" noProof="0" dirty="0"/>
              <a:t>D1</a:t>
            </a:r>
          </a:p>
          <a:p>
            <a:pPr algn="ctr"/>
            <a:r>
              <a:rPr lang="fr-FR" noProof="0" dirty="0">
                <a:solidFill>
                  <a:srgbClr val="FF0000"/>
                </a:solidFill>
              </a:rPr>
              <a:t>P2</a:t>
            </a:r>
          </a:p>
          <a:p>
            <a:pPr algn="ctr"/>
            <a:r>
              <a:rPr lang="fr-FR" noProof="0" dirty="0"/>
              <a:t>D4</a:t>
            </a:r>
          </a:p>
        </p:txBody>
      </p:sp>
    </p:spTree>
    <p:extLst>
      <p:ext uri="{BB962C8B-B14F-4D97-AF65-F5344CB8AC3E}">
        <p14:creationId xmlns:p14="http://schemas.microsoft.com/office/powerpoint/2010/main" val="3121081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77847-EC83-6FEE-3942-47F2179E9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9BDD40-AE85-AEB1-9FDB-3315D9CE267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t="7098" b="2176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7C08F68-014D-D694-900C-0F368F96F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0" y="114305"/>
            <a:ext cx="3549121" cy="1371600"/>
          </a:xfrm>
        </p:spPr>
        <p:txBody>
          <a:bodyPr>
            <a:normAutofit/>
          </a:bodyPr>
          <a:lstStyle/>
          <a:p>
            <a:pPr algn="ctr"/>
            <a:r>
              <a:rPr lang="fr-FR" sz="5400" b="1" noProof="0" dirty="0"/>
              <a:t>Raid 6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4DFED07-6A31-6709-2419-076A6BAF82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Version très sécurisée de RAID mais nécessite beaucoup de disque et plus de travail pour créer les parités.</a:t>
            </a:r>
          </a:p>
          <a:p>
            <a:r>
              <a:rPr lang="fr-FR" noProof="0" dirty="0"/>
              <a:t>les données sont réparties dans les différents disques + 2 blocs de « backup ».</a:t>
            </a:r>
          </a:p>
          <a:p>
            <a:endParaRPr lang="fr-FR" noProof="0" dirty="0"/>
          </a:p>
          <a:p>
            <a:r>
              <a:rPr lang="fr-FR" noProof="0" dirty="0"/>
              <a:t>Données (D) et </a:t>
            </a:r>
            <a:r>
              <a:rPr lang="fr-FR" noProof="0" dirty="0">
                <a:solidFill>
                  <a:srgbClr val="FF0000"/>
                </a:solidFill>
              </a:rPr>
              <a:t>parités (P) </a:t>
            </a:r>
            <a:r>
              <a:rPr lang="fr-FR" noProof="0" dirty="0"/>
              <a:t>réparties 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A45F64F-9B6C-9837-15D0-8B87130E9D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9047" y="2427515"/>
            <a:ext cx="4453846" cy="2209800"/>
          </a:xfrm>
        </p:spPr>
        <p:txBody>
          <a:bodyPr>
            <a:noAutofit/>
          </a:bodyPr>
          <a:lstStyle/>
          <a:p>
            <a:r>
              <a:rPr lang="fr-FR" sz="1400" b="1" noProof="0" dirty="0"/>
              <a:t>Sécurité : </a:t>
            </a:r>
            <a:r>
              <a:rPr lang="fr-FR" sz="1400" noProof="0" dirty="0"/>
              <a:t>Peut survivre jusqu’à deux disques en panne..		</a:t>
            </a:r>
          </a:p>
          <a:p>
            <a:endParaRPr lang="fr-FR" sz="1400" noProof="0" dirty="0"/>
          </a:p>
          <a:p>
            <a:r>
              <a:rPr lang="fr-FR" sz="1400" b="1" noProof="0" dirty="0"/>
              <a:t>Pour 4 disques de 2 To : </a:t>
            </a:r>
            <a:r>
              <a:rPr lang="fr-FR" sz="1400" noProof="0" dirty="0"/>
              <a:t>la capacité est de 4 To</a:t>
            </a:r>
          </a:p>
          <a:p>
            <a:endParaRPr lang="fr-FR" sz="1400" noProof="0" dirty="0"/>
          </a:p>
          <a:p>
            <a:r>
              <a:rPr lang="fr-FR" sz="1400" noProof="0" dirty="0"/>
              <a:t>			</a:t>
            </a:r>
            <a:r>
              <a:rPr lang="fr-FR" sz="1400" b="1" noProof="0" dirty="0"/>
              <a:t>Minimum disque requis: 4</a:t>
            </a:r>
            <a:r>
              <a:rPr lang="fr-FR" sz="1400" noProof="0" dirty="0"/>
              <a:t> disques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9689F34D-24BC-8D11-1959-05D46B116532}"/>
              </a:ext>
            </a:extLst>
          </p:cNvPr>
          <p:cNvSpPr/>
          <p:nvPr/>
        </p:nvSpPr>
        <p:spPr>
          <a:xfrm>
            <a:off x="6009810" y="4795152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noProof="0" dirty="0"/>
              <a:t>Disque C</a:t>
            </a:r>
          </a:p>
          <a:p>
            <a:pPr algn="ctr"/>
            <a:r>
              <a:rPr lang="fr-FR" noProof="0" dirty="0">
                <a:solidFill>
                  <a:srgbClr val="FF0000"/>
                </a:solidFill>
              </a:rPr>
              <a:t>P1</a:t>
            </a:r>
          </a:p>
          <a:p>
            <a:pPr algn="ctr"/>
            <a:r>
              <a:rPr lang="fr-FR" noProof="0" dirty="0"/>
              <a:t>D5</a:t>
            </a:r>
          </a:p>
          <a:p>
            <a:pPr algn="ctr"/>
            <a:r>
              <a:rPr lang="fr-FR" noProof="0" dirty="0">
                <a:solidFill>
                  <a:schemeClr val="bg1"/>
                </a:solidFill>
              </a:rPr>
              <a:t>D6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EEDAA7A9-C4EE-2A80-FC76-801441F57DFD}"/>
              </a:ext>
            </a:extLst>
          </p:cNvPr>
          <p:cNvSpPr/>
          <p:nvPr/>
        </p:nvSpPr>
        <p:spPr>
          <a:xfrm>
            <a:off x="8814758" y="4795152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noProof="0" dirty="0"/>
              <a:t>Disque D</a:t>
            </a:r>
          </a:p>
          <a:p>
            <a:pPr algn="ctr"/>
            <a:r>
              <a:rPr lang="fr-FR" noProof="0" dirty="0"/>
              <a:t>D3</a:t>
            </a:r>
          </a:p>
          <a:p>
            <a:pPr algn="ctr"/>
            <a:r>
              <a:rPr lang="fr-FR" noProof="0" dirty="0">
                <a:solidFill>
                  <a:srgbClr val="FF0000"/>
                </a:solidFill>
              </a:rPr>
              <a:t>P3</a:t>
            </a:r>
          </a:p>
          <a:p>
            <a:pPr algn="ctr"/>
            <a:r>
              <a:rPr lang="fr-FR" noProof="0" dirty="0">
                <a:solidFill>
                  <a:srgbClr val="FF0000"/>
                </a:solidFill>
              </a:rPr>
              <a:t>P6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150C009C-DEB9-7667-6B14-36B1B1BD011F}"/>
              </a:ext>
            </a:extLst>
          </p:cNvPr>
          <p:cNvSpPr/>
          <p:nvPr/>
        </p:nvSpPr>
        <p:spPr>
          <a:xfrm>
            <a:off x="399914" y="4771416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noProof="0" dirty="0"/>
              <a:t>Disque A</a:t>
            </a:r>
          </a:p>
          <a:p>
            <a:pPr algn="ctr"/>
            <a:r>
              <a:rPr lang="fr-FR" noProof="0" dirty="0"/>
              <a:t>D1</a:t>
            </a:r>
          </a:p>
          <a:p>
            <a:pPr algn="ctr"/>
            <a:r>
              <a:rPr lang="fr-FR" noProof="0" dirty="0">
                <a:solidFill>
                  <a:srgbClr val="FF0000"/>
                </a:solidFill>
              </a:rPr>
              <a:t>P2</a:t>
            </a:r>
          </a:p>
          <a:p>
            <a:pPr algn="ctr"/>
            <a:r>
              <a:rPr lang="fr-FR" noProof="0" dirty="0">
                <a:solidFill>
                  <a:srgbClr val="FF0000"/>
                </a:solidFill>
              </a:rPr>
              <a:t>P4</a:t>
            </a:r>
          </a:p>
        </p:txBody>
      </p:sp>
      <p:sp>
        <p:nvSpPr>
          <p:cNvPr id="10" name="Ellipse 7">
            <a:extLst>
              <a:ext uri="{FF2B5EF4-FFF2-40B4-BE49-F238E27FC236}">
                <a16:creationId xmlns:a16="http://schemas.microsoft.com/office/drawing/2014/main" id="{293B0C10-705F-B7A2-9210-313050340D04}"/>
              </a:ext>
            </a:extLst>
          </p:cNvPr>
          <p:cNvSpPr/>
          <p:nvPr/>
        </p:nvSpPr>
        <p:spPr>
          <a:xfrm>
            <a:off x="3204862" y="4795152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noProof="0" dirty="0"/>
              <a:t>Disque B</a:t>
            </a:r>
          </a:p>
          <a:p>
            <a:pPr algn="ctr"/>
            <a:r>
              <a:rPr lang="fr-FR" noProof="0" dirty="0"/>
              <a:t>D2</a:t>
            </a:r>
          </a:p>
          <a:p>
            <a:pPr algn="ctr"/>
            <a:r>
              <a:rPr lang="fr-FR" noProof="0" dirty="0">
                <a:solidFill>
                  <a:schemeClr val="bg1"/>
                </a:solidFill>
              </a:rPr>
              <a:t>D4</a:t>
            </a:r>
          </a:p>
          <a:p>
            <a:pPr algn="ctr"/>
            <a:r>
              <a:rPr lang="fr-FR" noProof="0" dirty="0">
                <a:solidFill>
                  <a:srgbClr val="FF0000"/>
                </a:solidFill>
              </a:rPr>
              <a:t>P5</a:t>
            </a:r>
          </a:p>
        </p:txBody>
      </p:sp>
    </p:spTree>
    <p:extLst>
      <p:ext uri="{BB962C8B-B14F-4D97-AF65-F5344CB8AC3E}">
        <p14:creationId xmlns:p14="http://schemas.microsoft.com/office/powerpoint/2010/main" val="3240651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97F80-1D61-1D38-9096-0CF0B139B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A895BE-02CC-82CA-8618-D1DC1714004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t="7098" b="2176"/>
          <a:stretch>
            <a:fillRect/>
          </a:stretch>
        </p:blipFill>
        <p:spPr>
          <a:xfrm>
            <a:off x="-100564" y="114305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8283F3-F4A1-D443-F4F0-59A8A22A8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0" y="114305"/>
            <a:ext cx="3549121" cy="1371600"/>
          </a:xfrm>
        </p:spPr>
        <p:txBody>
          <a:bodyPr>
            <a:normAutofit/>
          </a:bodyPr>
          <a:lstStyle/>
          <a:p>
            <a:pPr algn="ctr"/>
            <a:r>
              <a:rPr lang="fr-FR" sz="5400" b="1" noProof="0" dirty="0"/>
              <a:t>Raid 10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D077FD-B9E0-1290-BBDC-49B09FD5B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Version très sécurisée mais nécessite beaucoup de disques. </a:t>
            </a:r>
          </a:p>
          <a:p>
            <a:r>
              <a:rPr lang="fr-FR" noProof="0" dirty="0"/>
              <a:t>Données réparties dans des paires de disques qui se copient comme dans RAID 1.</a:t>
            </a:r>
          </a:p>
          <a:p>
            <a:endParaRPr lang="fr-FR" noProof="0" dirty="0"/>
          </a:p>
          <a:p>
            <a:endParaRPr lang="fr-FR" noProof="0" dirty="0"/>
          </a:p>
          <a:p>
            <a:r>
              <a:rPr lang="fr-FR" noProof="0" dirty="0"/>
              <a:t>Données (D) et parités (P) réparties 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DF9CF4-001A-2A28-05B3-9970AD79FD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9047" y="2427515"/>
            <a:ext cx="4453846" cy="2209800"/>
          </a:xfrm>
        </p:spPr>
        <p:txBody>
          <a:bodyPr>
            <a:noAutofit/>
          </a:bodyPr>
          <a:lstStyle/>
          <a:p>
            <a:r>
              <a:rPr lang="fr-FR" sz="1400" b="1" noProof="0" dirty="0"/>
              <a:t>Sécurité : </a:t>
            </a:r>
            <a:r>
              <a:rPr lang="fr-FR" sz="1400" noProof="0" dirty="0"/>
              <a:t>Peut survivre aux pannes si paires de miroirs différentes sont touchées. </a:t>
            </a:r>
          </a:p>
          <a:p>
            <a:endParaRPr lang="fr-FR" sz="1400" noProof="0" dirty="0"/>
          </a:p>
          <a:p>
            <a:r>
              <a:rPr lang="fr-FR" sz="1400" b="1" noProof="0" dirty="0"/>
              <a:t>Pour 4 disques de 2 To : </a:t>
            </a:r>
            <a:r>
              <a:rPr lang="fr-FR" sz="1400" noProof="0" dirty="0"/>
              <a:t>la capacité est de 4 To</a:t>
            </a:r>
          </a:p>
          <a:p>
            <a:endParaRPr lang="fr-FR" sz="1400" noProof="0" dirty="0"/>
          </a:p>
          <a:p>
            <a:r>
              <a:rPr lang="fr-FR" sz="1400" noProof="0" dirty="0"/>
              <a:t>			</a:t>
            </a:r>
            <a:r>
              <a:rPr lang="fr-FR" sz="1400" b="1" noProof="0" dirty="0"/>
              <a:t>Minimum disque requis: 4</a:t>
            </a:r>
            <a:r>
              <a:rPr lang="fr-FR" sz="1400" noProof="0" dirty="0"/>
              <a:t> disques </a:t>
            </a:r>
          </a:p>
          <a:p>
            <a:r>
              <a:rPr lang="fr-FR" sz="1400" noProof="0" dirty="0"/>
              <a:t>					+ nombre doit être paire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90ECD599-9518-3EDF-75DE-408A998F658D}"/>
              </a:ext>
            </a:extLst>
          </p:cNvPr>
          <p:cNvSpPr/>
          <p:nvPr/>
        </p:nvSpPr>
        <p:spPr>
          <a:xfrm>
            <a:off x="2957861" y="4795152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noProof="0" dirty="0"/>
              <a:t>Disque B</a:t>
            </a:r>
          </a:p>
          <a:p>
            <a:pPr algn="ctr"/>
            <a:r>
              <a:rPr lang="fr-FR" noProof="0" dirty="0">
                <a:solidFill>
                  <a:schemeClr val="bg1"/>
                </a:solidFill>
              </a:rPr>
              <a:t>D1</a:t>
            </a:r>
          </a:p>
          <a:p>
            <a:pPr algn="ctr"/>
            <a:r>
              <a:rPr lang="fr-FR" noProof="0" dirty="0">
                <a:solidFill>
                  <a:schemeClr val="bg1"/>
                </a:solidFill>
              </a:rPr>
              <a:t>D3</a:t>
            </a:r>
          </a:p>
          <a:p>
            <a:pPr algn="ctr"/>
            <a:r>
              <a:rPr lang="fr-FR" noProof="0" dirty="0">
                <a:solidFill>
                  <a:schemeClr val="bg1"/>
                </a:solidFill>
              </a:rPr>
              <a:t>D5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F2BBECAA-D0C3-5384-F5C8-5C2F03777A63}"/>
              </a:ext>
            </a:extLst>
          </p:cNvPr>
          <p:cNvSpPr/>
          <p:nvPr/>
        </p:nvSpPr>
        <p:spPr>
          <a:xfrm>
            <a:off x="5762809" y="4795152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noProof="0" dirty="0"/>
              <a:t>Disque C</a:t>
            </a:r>
          </a:p>
          <a:p>
            <a:pPr algn="ctr"/>
            <a:r>
              <a:rPr lang="fr-FR" noProof="0" dirty="0"/>
              <a:t>D2</a:t>
            </a:r>
          </a:p>
          <a:p>
            <a:pPr algn="ctr"/>
            <a:r>
              <a:rPr lang="fr-FR" noProof="0" dirty="0">
                <a:solidFill>
                  <a:schemeClr val="bg1"/>
                </a:solidFill>
              </a:rPr>
              <a:t>D4</a:t>
            </a:r>
          </a:p>
          <a:p>
            <a:pPr algn="ctr"/>
            <a:r>
              <a:rPr lang="fr-FR" noProof="0" dirty="0">
                <a:solidFill>
                  <a:schemeClr val="bg1"/>
                </a:solidFill>
              </a:rPr>
              <a:t>D6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7DF9F888-3059-D56D-EAAA-BD120DFA2E6B}"/>
              </a:ext>
            </a:extLst>
          </p:cNvPr>
          <p:cNvSpPr/>
          <p:nvPr/>
        </p:nvSpPr>
        <p:spPr>
          <a:xfrm>
            <a:off x="8567757" y="4795152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noProof="0" dirty="0"/>
              <a:t>Disque D</a:t>
            </a:r>
          </a:p>
          <a:p>
            <a:pPr algn="ctr"/>
            <a:r>
              <a:rPr lang="fr-FR" noProof="0" dirty="0">
                <a:solidFill>
                  <a:schemeClr val="bg1"/>
                </a:solidFill>
              </a:rPr>
              <a:t>D2</a:t>
            </a:r>
          </a:p>
          <a:p>
            <a:pPr algn="ctr"/>
            <a:r>
              <a:rPr lang="fr-FR" noProof="0" dirty="0">
                <a:solidFill>
                  <a:schemeClr val="bg1"/>
                </a:solidFill>
              </a:rPr>
              <a:t>D4</a:t>
            </a:r>
          </a:p>
          <a:p>
            <a:pPr algn="ctr"/>
            <a:r>
              <a:rPr lang="fr-FR" noProof="0" dirty="0">
                <a:solidFill>
                  <a:schemeClr val="bg1"/>
                </a:solidFill>
              </a:rPr>
              <a:t>D6</a:t>
            </a:r>
          </a:p>
        </p:txBody>
      </p:sp>
      <p:sp>
        <p:nvSpPr>
          <p:cNvPr id="10" name="Ellipse 7">
            <a:extLst>
              <a:ext uri="{FF2B5EF4-FFF2-40B4-BE49-F238E27FC236}">
                <a16:creationId xmlns:a16="http://schemas.microsoft.com/office/drawing/2014/main" id="{36FC06E0-CF84-4147-163A-71AFC3C91423}"/>
              </a:ext>
            </a:extLst>
          </p:cNvPr>
          <p:cNvSpPr/>
          <p:nvPr/>
        </p:nvSpPr>
        <p:spPr>
          <a:xfrm>
            <a:off x="138142" y="4795152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noProof="0" dirty="0"/>
              <a:t>Disque A</a:t>
            </a:r>
          </a:p>
          <a:p>
            <a:pPr algn="ctr"/>
            <a:r>
              <a:rPr lang="fr-FR" noProof="0" dirty="0">
                <a:solidFill>
                  <a:schemeClr val="bg1"/>
                </a:solidFill>
              </a:rPr>
              <a:t>D1</a:t>
            </a:r>
          </a:p>
          <a:p>
            <a:pPr algn="ctr"/>
            <a:r>
              <a:rPr lang="fr-FR" noProof="0" dirty="0">
                <a:solidFill>
                  <a:schemeClr val="bg1"/>
                </a:solidFill>
              </a:rPr>
              <a:t>D3</a:t>
            </a:r>
          </a:p>
          <a:p>
            <a:pPr algn="ctr"/>
            <a:r>
              <a:rPr lang="fr-FR" noProof="0" dirty="0">
                <a:solidFill>
                  <a:schemeClr val="bg1"/>
                </a:solidFill>
              </a:rPr>
              <a:t>D5</a:t>
            </a:r>
          </a:p>
        </p:txBody>
      </p:sp>
    </p:spTree>
    <p:extLst>
      <p:ext uri="{BB962C8B-B14F-4D97-AF65-F5344CB8AC3E}">
        <p14:creationId xmlns:p14="http://schemas.microsoft.com/office/powerpoint/2010/main" val="33377541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D975A-8CC3-F4BA-24B6-486225930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0CB90F-FAB2-2F59-F7C9-9DE8540DC2D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t="7098" b="2176"/>
          <a:stretch>
            <a:fillRect/>
          </a:stretch>
        </p:blipFill>
        <p:spPr>
          <a:xfrm>
            <a:off x="-1579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BBE23D-0B95-0C10-EF51-C49A3B358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FR" sz="5400" b="1" noProof="0" dirty="0"/>
              <a:t>Raid n’est pas une sauvegarde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211848-FC5A-DFBB-A284-7CCC7DDC18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9114" y="3124200"/>
            <a:ext cx="10233725" cy="2828544"/>
          </a:xfrm>
        </p:spPr>
        <p:txBody>
          <a:bodyPr/>
          <a:lstStyle/>
          <a:p>
            <a:r>
              <a:rPr lang="fr-FR" dirty="0"/>
              <a:t>-	</a:t>
            </a:r>
            <a:r>
              <a:rPr lang="fr-FR" noProof="0" dirty="0"/>
              <a:t>RAID </a:t>
            </a:r>
            <a:r>
              <a:rPr lang="fr-FR" noProof="0" dirty="0">
                <a:solidFill>
                  <a:srgbClr val="00B050"/>
                </a:solidFill>
              </a:rPr>
              <a:t>permet</a:t>
            </a:r>
            <a:r>
              <a:rPr lang="fr-FR" noProof="0" dirty="0"/>
              <a:t> de reconstruire des données localement lorsqu’une panne surgit. SI un disque subit une panne mécanique, RAID peut reconstruire en mode DÉGRADÉ. </a:t>
            </a:r>
          </a:p>
          <a:p>
            <a:pPr marL="342900" indent="-342900">
              <a:buFontTx/>
              <a:buChar char="-"/>
            </a:pPr>
            <a:endParaRPr lang="fr-FR" noProof="0" dirty="0"/>
          </a:p>
          <a:p>
            <a:pPr marL="342900" indent="-342900">
              <a:buFontTx/>
              <a:buChar char="-"/>
            </a:pPr>
            <a:endParaRPr lang="fr-FR" noProof="0" dirty="0"/>
          </a:p>
          <a:p>
            <a:r>
              <a:rPr lang="fr-FR" noProof="0" dirty="0"/>
              <a:t>-	RAID </a:t>
            </a:r>
            <a:r>
              <a:rPr lang="fr-FR" noProof="0" dirty="0">
                <a:solidFill>
                  <a:srgbClr val="FF0000"/>
                </a:solidFill>
              </a:rPr>
              <a:t>ne permet pas </a:t>
            </a:r>
            <a:r>
              <a:rPr lang="fr-FR" noProof="0" dirty="0"/>
              <a:t>de rétablir une version antérieure. Si des données sont effacées ou écrasés, ils sont irrécupérables.</a:t>
            </a:r>
          </a:p>
        </p:txBody>
      </p:sp>
    </p:spTree>
    <p:extLst>
      <p:ext uri="{BB962C8B-B14F-4D97-AF65-F5344CB8AC3E}">
        <p14:creationId xmlns:p14="http://schemas.microsoft.com/office/powerpoint/2010/main" val="424226762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640</TotalTime>
  <Words>517</Words>
  <Application>Microsoft Office PowerPoint</Application>
  <PresentationFormat>Widescreen</PresentationFormat>
  <Paragraphs>121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Century Gothic</vt:lpstr>
      <vt:lpstr>Mesh</vt:lpstr>
      <vt:lpstr>Cartes éclair sur RAID</vt:lpstr>
      <vt:lpstr>Raid 0</vt:lpstr>
      <vt:lpstr>Raid 1</vt:lpstr>
      <vt:lpstr>Raid 5</vt:lpstr>
      <vt:lpstr>Raid 6</vt:lpstr>
      <vt:lpstr>Raid 10</vt:lpstr>
      <vt:lpstr>Raid n’est pas une sauvegarde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Gauvreau Louis</dc:creator>
  <cp:lastModifiedBy>Gauvreau Louis</cp:lastModifiedBy>
  <cp:revision>4</cp:revision>
  <dcterms:created xsi:type="dcterms:W3CDTF">2026-09-13T17:44:40Z</dcterms:created>
  <dcterms:modified xsi:type="dcterms:W3CDTF">2026-09-14T07:31:14Z</dcterms:modified>
</cp:coreProperties>
</file>